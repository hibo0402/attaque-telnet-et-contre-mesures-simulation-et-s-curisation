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>
        <p:scale>
          <a:sx n="75" d="100"/>
          <a:sy n="75" d="100"/>
        </p:scale>
        <p:origin x="5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9823" y="1632857"/>
            <a:ext cx="10672354" cy="940525"/>
          </a:xfrm>
        </p:spPr>
        <p:txBody>
          <a:bodyPr>
            <a:normAutofit/>
          </a:bodyPr>
          <a:lstStyle/>
          <a:p>
            <a:r>
              <a:rPr lang="fr-FR" b="1" dirty="0">
                <a:effectLst/>
              </a:rPr>
              <a:t>Attaque Telnet et Contre-Mesures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59823" y="3272247"/>
            <a:ext cx="10123125" cy="960120"/>
          </a:xfrm>
        </p:spPr>
        <p:txBody>
          <a:bodyPr/>
          <a:lstStyle/>
          <a:p>
            <a:r>
              <a:rPr lang="fr-FR" dirty="0">
                <a:effectLst/>
              </a:rPr>
              <a:t>Simulation d'une intrusion et sécurisation des équipements 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568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44523"/>
          </a:xfrm>
        </p:spPr>
        <p:txBody>
          <a:bodyPr/>
          <a:lstStyle/>
          <a:p>
            <a:r>
              <a:rPr lang="fr-FR" b="1" dirty="0">
                <a:effectLst/>
              </a:rPr>
              <a:t> Introduction</a:t>
            </a:r>
            <a:endParaRPr lang="fr-FR" dirty="0"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1776550"/>
            <a:ext cx="10363825" cy="3448593"/>
          </a:xfrm>
        </p:spPr>
        <p:txBody>
          <a:bodyPr/>
          <a:lstStyle/>
          <a:p>
            <a:r>
              <a:rPr lang="fr-FR" b="1" dirty="0">
                <a:effectLst/>
              </a:rPr>
              <a:t>Objectif de la présentation</a:t>
            </a:r>
            <a:r>
              <a:rPr lang="fr-FR" dirty="0">
                <a:effectLst/>
              </a:rPr>
              <a:t> </a:t>
            </a:r>
            <a:r>
              <a:rPr lang="fr-FR" dirty="0" smtClean="0">
                <a:effectLst/>
              </a:rPr>
              <a:t>:</a:t>
            </a:r>
          </a:p>
          <a:p>
            <a:endParaRPr lang="fr-FR" dirty="0" smtClean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effectLst/>
              </a:rPr>
              <a:t>Comprendre </a:t>
            </a:r>
            <a:r>
              <a:rPr lang="fr-FR" dirty="0">
                <a:effectLst/>
              </a:rPr>
              <a:t>les vulnérabilités du protocole Telnet</a:t>
            </a:r>
            <a:r>
              <a:rPr lang="fr-FR" dirty="0" smtClean="0">
                <a:effectLst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 smtClean="0">
                <a:effectLst/>
              </a:rPr>
              <a:t>Simuler </a:t>
            </a:r>
            <a:r>
              <a:rPr lang="fr-FR" dirty="0">
                <a:effectLst/>
              </a:rPr>
              <a:t>une attaque par force brute/interception.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effectLst/>
              </a:rPr>
              <a:t>Proposer des solutions de sécurisation (SSH, ACL, etc</a:t>
            </a:r>
            <a:r>
              <a:rPr lang="fr-FR" dirty="0" smtClean="0">
                <a:effectLst/>
              </a:rPr>
              <a:t>.).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893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18397"/>
          </a:xfrm>
        </p:spPr>
        <p:txBody>
          <a:bodyPr/>
          <a:lstStyle/>
          <a:p>
            <a:r>
              <a:rPr lang="fr-FR" b="1" dirty="0">
                <a:effectLst/>
              </a:rPr>
              <a:t>Contexte théorique</a:t>
            </a:r>
            <a:endParaRPr lang="fr-FR" dirty="0"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3774" y="1606732"/>
            <a:ext cx="10363825" cy="4184468"/>
          </a:xfrm>
        </p:spPr>
        <p:txBody>
          <a:bodyPr/>
          <a:lstStyle/>
          <a:p>
            <a:r>
              <a:rPr lang="fr-FR" b="1" dirty="0">
                <a:effectLst/>
              </a:rPr>
              <a:t>Qu'est-ce que Telnet </a:t>
            </a:r>
            <a:r>
              <a:rPr lang="fr-FR" b="1" dirty="0" smtClean="0">
                <a:effectLst/>
              </a:rPr>
              <a:t>? </a:t>
            </a:r>
          </a:p>
          <a:p>
            <a:endParaRPr lang="fr-FR" b="1" dirty="0" smtClean="0">
              <a:effectLst/>
            </a:endParaRPr>
          </a:p>
          <a:p>
            <a:endParaRPr lang="fr-FR" b="1" dirty="0">
              <a:effectLst/>
            </a:endParaRPr>
          </a:p>
          <a:p>
            <a:endParaRPr lang="fr-FR" b="1" dirty="0" smtClean="0">
              <a:effectLst/>
            </a:endParaRPr>
          </a:p>
          <a:p>
            <a:endParaRPr lang="fr-FR" b="1" dirty="0" smtClean="0">
              <a:effectLst/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dirty="0" smtClean="0">
              <a:effectLst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>
                <a:effectLst/>
              </a:rPr>
              <a:t>Protocole </a:t>
            </a:r>
            <a:r>
              <a:rPr lang="fr-FR" dirty="0">
                <a:effectLst/>
              </a:rPr>
              <a:t>de communication en texte clair (non chiffré).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effectLst/>
              </a:rPr>
              <a:t>Utilisé pour la gestion à distance des équipements (routeurs, switches</a:t>
            </a:r>
            <a:r>
              <a:rPr lang="fr-FR" dirty="0" smtClean="0">
                <a:effectLst/>
              </a:rPr>
              <a:t>).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312" y="2235004"/>
            <a:ext cx="6491834" cy="205564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541997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6" y="428625"/>
            <a:ext cx="9987587" cy="1185863"/>
          </a:xfrm>
        </p:spPr>
        <p:txBody>
          <a:bodyPr>
            <a:normAutofit/>
          </a:bodyPr>
          <a:lstStyle/>
          <a:p>
            <a:r>
              <a:rPr lang="fr-FR" b="1" dirty="0">
                <a:effectLst/>
              </a:rPr>
              <a:t>Topologie du réseau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139700" y="1500188"/>
            <a:ext cx="11137900" cy="4862512"/>
          </a:xfrm>
        </p:spPr>
        <p:txBody>
          <a:bodyPr/>
          <a:lstStyle/>
          <a:p>
            <a:r>
              <a:rPr lang="fr-FR" dirty="0">
                <a:latin typeface="Arial Narrow" panose="020B0606020202030204" pitchFamily="34" charset="0"/>
              </a:rPr>
              <a:t>Routeur (cible) + 2 Switches + 6 PC (1 attaquant, 5 légitimes</a:t>
            </a:r>
            <a:r>
              <a:rPr lang="fr-FR" dirty="0" smtClean="0">
                <a:latin typeface="Arial Narrow" panose="020B0606020202030204" pitchFamily="34" charset="0"/>
              </a:rPr>
              <a:t>).</a:t>
            </a:r>
            <a:endParaRPr lang="fr-FR" dirty="0">
              <a:latin typeface="Arial Narrow" panose="020B0606020202030204" pitchFamily="34" charset="0"/>
            </a:endParaRPr>
          </a:p>
          <a:p>
            <a:r>
              <a:rPr lang="fr-FR" dirty="0" smtClean="0">
                <a:latin typeface="Arial Narrow" panose="020B0606020202030204" pitchFamily="34" charset="0"/>
              </a:rPr>
              <a:t>Sous-réseaux : 192.168.1.0/24 (PC1-3) et 192.168.2.0/24 (PC4-6).</a:t>
            </a:r>
          </a:p>
          <a:p>
            <a:endParaRPr lang="fr-FR" dirty="0">
              <a:latin typeface="Arial Narrow" panose="020B0606020202030204" pitchFamily="34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2699240"/>
            <a:ext cx="9073346" cy="3091959"/>
          </a:xfrm>
          <a:prstGeom prst="rect">
            <a:avLst/>
          </a:prstGeom>
          <a:effectLst>
            <a:innerShdw blurRad="114300">
              <a:srgbClr val="7030A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019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033625" cy="1222983"/>
          </a:xfrm>
        </p:spPr>
        <p:txBody>
          <a:bodyPr>
            <a:normAutofit fontScale="90000"/>
          </a:bodyPr>
          <a:lstStyle/>
          <a:p>
            <a:r>
              <a:rPr lang="fr-FR" b="1" dirty="0">
                <a:effectLst/>
              </a:rPr>
              <a:t>Configuration du </a:t>
            </a:r>
            <a:r>
              <a:rPr lang="fr-FR" b="1" dirty="0" smtClean="0">
                <a:effectLst/>
              </a:rPr>
              <a:t>routeur </a:t>
            </a:r>
            <a:r>
              <a:rPr lang="fr-FR" b="1" dirty="0">
                <a:effectLst/>
              </a:rPr>
              <a:t>et Activation de Telnet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698500" y="1841500"/>
            <a:ext cx="5321300" cy="3949699"/>
          </a:xfrm>
        </p:spPr>
        <p:txBody>
          <a:bodyPr/>
          <a:lstStyle/>
          <a:p>
            <a:r>
              <a:rPr lang="fr-FR" dirty="0">
                <a:effectLst/>
              </a:rPr>
              <a:t>Le routeur permet la communication entre ces deux </a:t>
            </a:r>
            <a:r>
              <a:rPr lang="fr-FR" dirty="0" smtClean="0">
                <a:effectLst/>
              </a:rPr>
              <a:t>réseaux</a:t>
            </a:r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4"/>
          </p:nvPr>
        </p:nvSpPr>
        <p:spPr>
          <a:xfrm>
            <a:off x="6235074" y="1841500"/>
            <a:ext cx="5042525" cy="3949699"/>
          </a:xfrm>
        </p:spPr>
        <p:txBody>
          <a:bodyPr/>
          <a:lstStyle/>
          <a:p>
            <a:r>
              <a:rPr lang="fr-FR" dirty="0">
                <a:effectLst/>
              </a:rPr>
              <a:t>Activation de Telnet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844800"/>
            <a:ext cx="4927600" cy="35687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6" name="Image 5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49" y="2844800"/>
            <a:ext cx="5391150" cy="3568700"/>
          </a:xfrm>
          <a:prstGeom prst="rect">
            <a:avLst/>
          </a:prstGeom>
          <a:effectLst>
            <a:innerShdw blurRad="114300">
              <a:srgbClr val="00B0F0"/>
            </a:innerShdw>
          </a:effectLst>
        </p:spPr>
      </p:pic>
    </p:spTree>
    <p:extLst>
      <p:ext uri="{BB962C8B-B14F-4D97-AF65-F5344CB8AC3E}">
        <p14:creationId xmlns:p14="http://schemas.microsoft.com/office/powerpoint/2010/main" val="66976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236826" cy="1007083"/>
          </a:xfrm>
        </p:spPr>
        <p:txBody>
          <a:bodyPr>
            <a:normAutofit fontScale="90000"/>
          </a:bodyPr>
          <a:lstStyle/>
          <a:p>
            <a:r>
              <a:rPr lang="fr-FR" b="1" dirty="0">
                <a:effectLst/>
              </a:rPr>
              <a:t>Simulation de l'attaque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762000" y="1765300"/>
            <a:ext cx="5257800" cy="4025899"/>
          </a:xfrm>
        </p:spPr>
        <p:txBody>
          <a:bodyPr/>
          <a:lstStyle/>
          <a:p>
            <a:r>
              <a:rPr lang="fr-FR" b="1" dirty="0">
                <a:effectLst/>
              </a:rPr>
              <a:t>Depuis </a:t>
            </a:r>
            <a:r>
              <a:rPr lang="fr-FR" b="1" dirty="0" smtClean="0">
                <a:effectLst/>
              </a:rPr>
              <a:t>PC0 (UTILISATEUR)</a:t>
            </a:r>
            <a:r>
              <a:rPr lang="fr-FR" dirty="0">
                <a:effectLst/>
              </a:rPr>
              <a:t> </a:t>
            </a:r>
            <a:r>
              <a:rPr lang="fr-FR" dirty="0" smtClean="0">
                <a:effectLst/>
              </a:rPr>
              <a:t>:</a:t>
            </a:r>
            <a:endParaRPr lang="fr-FR" dirty="0">
              <a:effectLst/>
            </a:endParaRPr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4"/>
          </p:nvPr>
        </p:nvSpPr>
        <p:spPr>
          <a:xfrm>
            <a:off x="5676900" y="1765300"/>
            <a:ext cx="6515100" cy="4889500"/>
          </a:xfrm>
        </p:spPr>
        <p:txBody>
          <a:bodyPr/>
          <a:lstStyle/>
          <a:p>
            <a:r>
              <a:rPr lang="fr-FR" b="1" dirty="0">
                <a:effectLst/>
              </a:rPr>
              <a:t>Depuis </a:t>
            </a:r>
            <a:r>
              <a:rPr lang="fr-FR" b="1" dirty="0" smtClean="0">
                <a:effectLst/>
              </a:rPr>
              <a:t>PC3 </a:t>
            </a:r>
            <a:r>
              <a:rPr lang="fr-FR" b="1" dirty="0">
                <a:effectLst/>
              </a:rPr>
              <a:t>(attaquant)</a:t>
            </a:r>
            <a:r>
              <a:rPr lang="fr-FR" dirty="0">
                <a:effectLst/>
              </a:rPr>
              <a:t> </a:t>
            </a:r>
            <a:r>
              <a:rPr lang="fr-FR" dirty="0" smtClean="0">
                <a:effectLst/>
              </a:rPr>
              <a:t>:</a:t>
            </a:r>
          </a:p>
          <a:p>
            <a:r>
              <a:rPr lang="fr-FR" dirty="0" smtClean="0">
                <a:effectLst/>
              </a:rPr>
              <a:t>Exploitation </a:t>
            </a:r>
            <a:r>
              <a:rPr lang="fr-FR" dirty="0">
                <a:effectLst/>
              </a:rPr>
              <a:t>du mot de passe faible</a:t>
            </a:r>
            <a:endParaRPr lang="fr-FR" dirty="0" smtClean="0">
              <a:effectLst/>
            </a:endParaRPr>
          </a:p>
          <a:p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57120"/>
            <a:ext cx="4914900" cy="400558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00" y="2673866"/>
            <a:ext cx="6078710" cy="3498334"/>
          </a:xfrm>
          <a:prstGeom prst="rect">
            <a:avLst/>
          </a:prstGeom>
          <a:effectLst>
            <a:innerShdw blurRad="114300">
              <a:srgbClr val="00206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3305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3825" cy="1108683"/>
          </a:xfrm>
        </p:spPr>
        <p:txBody>
          <a:bodyPr/>
          <a:lstStyle/>
          <a:p>
            <a:r>
              <a:rPr lang="fr-FR" b="1" dirty="0">
                <a:effectLst/>
              </a:rPr>
              <a:t>Contre-mesures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566057" y="1625600"/>
            <a:ext cx="10711543" cy="4165599"/>
          </a:xfrm>
        </p:spPr>
        <p:txBody>
          <a:bodyPr/>
          <a:lstStyle/>
          <a:p>
            <a:r>
              <a:rPr lang="fr-FR" b="1" dirty="0">
                <a:solidFill>
                  <a:srgbClr val="F8FAFF"/>
                </a:solidFill>
                <a:effectLst/>
                <a:latin typeface="DeepSeek-CJK-patch"/>
              </a:rPr>
              <a:t>Remplacer Telnet par SSH</a:t>
            </a:r>
            <a:r>
              <a:rPr lang="fr-FR" dirty="0">
                <a:solidFill>
                  <a:srgbClr val="F8FAFF"/>
                </a:solidFill>
                <a:effectLst/>
                <a:latin typeface="DeepSeek-CJK-patch"/>
              </a:rPr>
              <a:t> </a:t>
            </a:r>
            <a:r>
              <a:rPr lang="fr-FR" dirty="0" smtClean="0">
                <a:solidFill>
                  <a:srgbClr val="F8FAFF"/>
                </a:solidFill>
                <a:effectLst/>
                <a:latin typeface="DeepSeek-CJK-patch"/>
              </a:rPr>
              <a:t>: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775" y="2239341"/>
            <a:ext cx="6404931" cy="3551858"/>
          </a:xfrm>
          <a:prstGeom prst="rect">
            <a:avLst/>
          </a:prstGeom>
          <a:effectLst>
            <a:innerShdw blurRad="114300">
              <a:srgbClr val="7030A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700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5660" y="168576"/>
            <a:ext cx="9971940" cy="116674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effectLst/>
              </a:rPr>
              <a:t/>
            </a:r>
            <a:br>
              <a:rPr lang="fr-FR" b="1" dirty="0" smtClean="0">
                <a:effectLst/>
              </a:rPr>
            </a:br>
            <a:r>
              <a:rPr lang="fr-FR" b="1" dirty="0">
                <a:effectLst/>
              </a:rPr>
              <a:t/>
            </a:r>
            <a:br>
              <a:rPr lang="fr-FR" b="1" dirty="0">
                <a:effectLst/>
              </a:rPr>
            </a:br>
            <a:r>
              <a:rPr lang="fr-FR" b="1" dirty="0" smtClean="0">
                <a:effectLst/>
              </a:rPr>
              <a:t>Démonstration </a:t>
            </a:r>
            <a:r>
              <a:rPr lang="fr-FR" b="1" dirty="0">
                <a:effectLst/>
              </a:rPr>
              <a:t>visuelle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319314" y="1538514"/>
            <a:ext cx="5941786" cy="4786086"/>
          </a:xfrm>
        </p:spPr>
        <p:txBody>
          <a:bodyPr/>
          <a:lstStyle/>
          <a:p>
            <a:r>
              <a:rPr lang="fr-FR" dirty="0"/>
              <a:t>Avant (Telnet non sécurisé</a:t>
            </a:r>
            <a:r>
              <a:rPr lang="fr-FR" dirty="0" smtClean="0"/>
              <a:t>)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4"/>
          </p:nvPr>
        </p:nvSpPr>
        <p:spPr>
          <a:xfrm>
            <a:off x="6154057" y="1538514"/>
            <a:ext cx="5123543" cy="4252685"/>
          </a:xfrm>
        </p:spPr>
        <p:txBody>
          <a:bodyPr/>
          <a:lstStyle/>
          <a:p>
            <a:r>
              <a:rPr lang="fr-FR" dirty="0"/>
              <a:t> Après (SSH chiffré</a:t>
            </a:r>
            <a:r>
              <a:rPr lang="fr-FR" dirty="0" smtClean="0"/>
              <a:t>)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61" y="2501900"/>
            <a:ext cx="5933096" cy="3492496"/>
          </a:xfrm>
          <a:prstGeom prst="rect">
            <a:avLst/>
          </a:prstGeom>
          <a:effectLst>
            <a:innerShdw blurRad="114300">
              <a:srgbClr val="002060"/>
            </a:inn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808" y="2087244"/>
            <a:ext cx="3476892" cy="4142865"/>
          </a:xfrm>
          <a:prstGeom prst="rect">
            <a:avLst/>
          </a:prstGeom>
          <a:effectLst>
            <a:innerShdw blurRad="114300">
              <a:srgbClr val="00206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8536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100" y="618517"/>
            <a:ext cx="10224126" cy="1121383"/>
          </a:xfrm>
        </p:spPr>
        <p:txBody>
          <a:bodyPr/>
          <a:lstStyle/>
          <a:p>
            <a:r>
              <a:rPr lang="fr-FR" b="1" dirty="0">
                <a:effectLst/>
              </a:rPr>
              <a:t>Conclusion</a:t>
            </a:r>
            <a:r>
              <a:rPr lang="fr-FR" dirty="0">
                <a:effectLst/>
              </a:rPr>
              <a:t/>
            </a:r>
            <a:br>
              <a:rPr lang="fr-FR" dirty="0">
                <a:effectLst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622300" y="2044700"/>
            <a:ext cx="10655300" cy="3746499"/>
          </a:xfrm>
        </p:spPr>
        <p:txBody>
          <a:bodyPr/>
          <a:lstStyle/>
          <a:p>
            <a:endParaRPr lang="fr-FR" dirty="0" smtClean="0">
              <a:solidFill>
                <a:srgbClr val="F8FAFF"/>
              </a:solidFill>
              <a:effectLst/>
              <a:latin typeface="DeepSeek-CJK-patch"/>
            </a:endParaRPr>
          </a:p>
          <a:p>
            <a:r>
              <a:rPr lang="fr-FR" dirty="0" smtClean="0">
                <a:solidFill>
                  <a:srgbClr val="F8FAFF"/>
                </a:solidFill>
                <a:effectLst/>
                <a:latin typeface="DeepSeek-CJK-patch"/>
              </a:rPr>
              <a:t>Telnet</a:t>
            </a:r>
            <a:r>
              <a:rPr lang="fr-FR" dirty="0">
                <a:solidFill>
                  <a:srgbClr val="F8FAFF"/>
                </a:solidFill>
                <a:effectLst/>
                <a:latin typeface="DeepSeek-CJK-patch"/>
              </a:rPr>
              <a:t>, non chiffré, expose les réseaux à des risques majeurs d'interception. Son remplacement par SSH, protocole sécurisé et chiffré, est indispensable pour garantir confidentialité et intégrité des accès distants.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7288341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87</TotalTime>
  <Words>215</Words>
  <Application>Microsoft Office PowerPoint</Application>
  <PresentationFormat>Grand écran</PresentationFormat>
  <Paragraphs>35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DeepSeek-CJK-patch</vt:lpstr>
      <vt:lpstr>Tw Cen MT</vt:lpstr>
      <vt:lpstr>Wingdings</vt:lpstr>
      <vt:lpstr>Ronds dans l’eau</vt:lpstr>
      <vt:lpstr>Attaque Telnet et Contre-Mesures</vt:lpstr>
      <vt:lpstr> Introduction</vt:lpstr>
      <vt:lpstr>Contexte théorique</vt:lpstr>
      <vt:lpstr>Topologie du réseau </vt:lpstr>
      <vt:lpstr>Configuration du routeur et Activation de Telnet </vt:lpstr>
      <vt:lpstr>Simulation de l'attaque </vt:lpstr>
      <vt:lpstr>Contre-mesures </vt:lpstr>
      <vt:lpstr>  Démonstration visuelle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Attaque Telnet et contre-mesure</dc:title>
  <dc:creator>Hibo Abdi Ali</dc:creator>
  <cp:lastModifiedBy>Hibo Abdi Ali</cp:lastModifiedBy>
  <cp:revision>9</cp:revision>
  <dcterms:created xsi:type="dcterms:W3CDTF">2025-04-08T19:24:19Z</dcterms:created>
  <dcterms:modified xsi:type="dcterms:W3CDTF">2025-04-08T20:51:54Z</dcterms:modified>
</cp:coreProperties>
</file>